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Gamified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27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Outcomes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85.5</c:v>
                </c:pt>
                <c:pt idx="1">
                  <c:v>77.2</c:v>
                </c:pt>
                <c:pt idx="2">
                  <c:v>90</c:v>
                </c:pt>
                <c:pt idx="3">
                  <c:v>71.099999999999994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EF-45C4-AFBC-7063A5C7ED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Non-Gamified</c:v>
                </c:pt>
              </c:strCache>
            </c:strRef>
          </c:tx>
          <c:spPr>
            <a:solidFill>
              <a:srgbClr val="F9E79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27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Engagement</c:v>
                </c:pt>
                <c:pt idx="1">
                  <c:v>Motivation</c:v>
                </c:pt>
                <c:pt idx="2">
                  <c:v>Participation</c:v>
                </c:pt>
                <c:pt idx="3">
                  <c:v>Learning Outcomes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68.599999999999994</c:v>
                </c:pt>
                <c:pt idx="1">
                  <c:v>65.599999999999994</c:v>
                </c:pt>
                <c:pt idx="2">
                  <c:v>78.2</c:v>
                </c:pt>
                <c:pt idx="3">
                  <c:v>58.4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EF-45C4-AFBC-7063A5C7ED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DCD3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0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81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Survey Analytics: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Methods &amp; Gamification Impact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1,002 students, 15 teachers, and 5 teaching methods — measuring how gamification shapes effectiveness and engagement.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·   SOLUTION   ·   INSIGHT   ·   CHALLENGES   ·   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 ANALYTICS  ·  1,002 STUDENTS  ·  15 TEACHERS  ·  5 TEACHING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ran a large survey across five teaching methods and a separate gamification pilot — but the results sat as two raw, uncleaned exports with mismatched student names, no merged view, and no way to answer the questions that actually mattered: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838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558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teaching method truly drives effectiveness and engagement?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2277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gamification meaningfully lift student outcomes, or just feel like it does?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897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teachers and methods should get more classroom time?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73736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SINGLE SOURCE OF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24231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26680" y="31729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raw survey exports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359359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7266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per student, unlinked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4764024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26680" y="55138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or KPIs to guide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connected analytics workbook that turns two messy exports into a governed, decision-ready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0335" y="244602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31033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original survey exports, whitespace and formatting issues intact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98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94406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6101" y="2455164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56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64" dirty="0"/>
          </a:p>
        </p:txBody>
      </p:sp>
      <p:sp>
        <p:nvSpPr>
          <p:cNvPr id="14" name="Text 12"/>
          <p:cNvSpPr/>
          <p:nvPr/>
        </p:nvSpPr>
        <p:spPr>
          <a:xfrm>
            <a:off x="29315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72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trimmed and standardized so every record matches exactly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5581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40173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1868" y="2455164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/>
          </a:p>
        </p:txBody>
      </p:sp>
      <p:sp>
        <p:nvSpPr>
          <p:cNvPr id="20" name="Text 18"/>
          <p:cNvSpPr/>
          <p:nvPr/>
        </p:nvSpPr>
        <p:spPr>
          <a:xfrm>
            <a:off x="5177333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Master_Data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23053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 students × 35 columns merged into one single source of truth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21347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85939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7634" y="2432702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047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26" name="Text 24"/>
          <p:cNvSpPr/>
          <p:nvPr/>
        </p:nvSpPr>
        <p:spPr>
          <a:xfrm>
            <a:off x="7423099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68819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teaching, engagement, gamification &amp; teacher KPIs calculated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67114" y="34518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504275" y="2148840"/>
            <a:ext cx="2108606" cy="3246120"/>
          </a:xfrm>
          <a:prstGeom prst="roundRect">
            <a:avLst>
              <a:gd name="adj" fmla="val 4337"/>
            </a:avLst>
          </a:prstGeom>
          <a:solidFill>
            <a:schemeClr val="bg1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93401" y="244602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29340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64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68866" y="3200400"/>
            <a:ext cx="18342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14586" y="3703320"/>
            <a:ext cx="174284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 pivot tables, 5 linked slicers, live KPI cards for instant answers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references the merged table directly — no hardcoded numbers, no manual copy-paste between sheets.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Lifts Every Metric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6309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00200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42048" y="1691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06840" y="1691640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gamification lift across all four outcome metrics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770632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42048" y="28620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006840" y="2862072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method for both effectiveness and engagement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941064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42048" y="4032504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4.04 / 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006840" y="4032504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is remarkably even across all 5 teaching methods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5111496"/>
            <a:ext cx="461772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63500" dist="25400" dir="5400000" algn="bl" rotWithShape="0">
              <a:srgbClr val="B7A99C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42048" y="5202936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006840" y="5202936"/>
            <a:ext cx="24688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effectiveness and engagement — they move independently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 &amp; FIXES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Name Matches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 in the raw exports carried stray leading/trailing spaces, so lookups silently failed.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trimmed whitespace on every name before merging, so every INDEX/MATCH lookup finds its record.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7304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3336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33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4593336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Cross-Version Formula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3336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design leaned on XLOOKUP, which isn't available in every Excel version.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93336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3336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3336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rebuilt every lookup with IFERROR + INDEX/MATCH for full backward compatibility.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5968" y="1874520"/>
            <a:ext cx="3514344" cy="41605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7DCD3"/>
            </a:solidFill>
            <a:prstDash val="solid"/>
          </a:ln>
          <a:effectLst>
            <a:outerShdw blurRad="76200" dist="25400" dir="5400000" algn="bl" rotWithShape="0">
              <a:srgbClr val="B7A99C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382000" y="2788920"/>
            <a:ext cx="30114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 Spanning Two Tables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82000" y="3383280"/>
            <a:ext cx="3011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slicer can't natively filter pivots built from two different source tables.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82000" y="4617720"/>
            <a:ext cx="3011424" cy="0"/>
          </a:xfrm>
          <a:prstGeom prst="line">
            <a:avLst/>
          </a:prstGeom>
          <a:noFill/>
          <a:ln w="12700">
            <a:solidFill>
              <a:srgbClr val="E7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2000" y="4727448"/>
            <a:ext cx="3011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82000" y="5001768"/>
            <a:ext cx="30114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grouped pivots by source table and mapped slicers deliberately — Gender/Age/Performance for student pivots, Teaching Method for teacher pivots.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9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governed workbook that replaced two disconnected exports with a live, self-service dashboard — turning raw survey data into an evidence-based teaching strategy.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423160" y="279806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charts, all fed by one Master_Data table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23160" y="375818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slicers for instant, one-click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+13.2 pts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471830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lift from gamification — the clearest, most actionable finding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508760"/>
            <a:ext cx="3977640" cy="4160520"/>
          </a:xfrm>
          <a:prstGeom prst="roundRect">
            <a:avLst>
              <a:gd name="adj" fmla="val 2759"/>
            </a:avLst>
          </a:prstGeom>
          <a:solidFill>
            <a:srgbClr val="26316B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22585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3055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gamified delivery — it lifts every measured outcome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09560" y="312724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99923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Experiments-style teaching, the top method overall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09560" y="39959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867912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live dashboard for ongoing, evidence-based decisions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051560"/>
            <a:ext cx="1828800" cy="1828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184648" y="1051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Master_Data model, any KPI, or the live dashboard in more detail.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5289804"/>
            <a:ext cx="142646" cy="28803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5702198" y="5129784"/>
            <a:ext cx="142646" cy="448056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6009437" y="5206594"/>
            <a:ext cx="142646" cy="371246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6316675" y="4937760"/>
            <a:ext cx="142646" cy="64008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3914" y="5065776"/>
            <a:ext cx="142646" cy="512064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599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NISHA KUMARI</cp:lastModifiedBy>
  <cp:revision>2</cp:revision>
  <dcterms:created xsi:type="dcterms:W3CDTF">2026-07-13T19:28:19Z</dcterms:created>
  <dcterms:modified xsi:type="dcterms:W3CDTF">2026-07-14T05:39:43Z</dcterms:modified>
</cp:coreProperties>
</file>